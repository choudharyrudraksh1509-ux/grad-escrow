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0" d="100"/>
          <a:sy n="300" d="100"/>
        </p:scale>
        <p:origin x="-5554" y="-7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67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20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2A89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A89D"/>
                </a:solidFill>
              </a:rPr>
              <a:t>BLOCKCHAIN • SMART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GradEscrow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DCDC"/>
                </a:solidFill>
              </a:rPr>
              <a:t>Milestone-Based Smart Contracts with Adaptive Dispute 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4389120" cy="320040"/>
          </a:xfrm>
          <a:prstGeom prst="roundRect">
            <a:avLst/>
          </a:prstGeom>
          <a:solidFill>
            <a:srgbClr val="12375A"/>
          </a:solidFill>
          <a:ln w="12700">
            <a:solidFill>
              <a:srgbClr val="12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A89D"/>
                </a:solidFill>
              </a:rPr>
              <a:t>FINAL PROJECT REVIEW • 100%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C8DC"/>
                </a:solidFill>
              </a:rPr>
              <a:t>Under the Guidance of: </a:t>
            </a:r>
            <a:r>
              <a:rPr sz="1400" b="1">
                <a:solidFill>
                  <a:srgbClr val="FFFFFF"/>
                </a:solidFill>
              </a:rPr>
              <a:t>Dr. Anubha S Pearline Ma'am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Rudraksh Choudhary
</a:t>
            </a:r>
            <a:r>
              <a:rPr sz="1300">
                <a:solidFill>
                  <a:srgbClr val="B4BED2"/>
                </a:solidFill>
              </a:rPr>
              <a:t>Reg. No. 25BCE1790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Ayush Abhinav
</a:t>
            </a:r>
            <a:r>
              <a:rPr sz="1300">
                <a:solidFill>
                  <a:srgbClr val="B4BED2"/>
                </a:solidFill>
              </a:rPr>
              <a:t>Reg. No. 25BCE5359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The Problem With Traditional Escrow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All-or-Nothing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100% of project funds are locked until the ENTIRE job is complete. Partial deliverables cannot be fairly compensated, exposing freelancers to immense unpaid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No Neutral Middleman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Traditional escrow relies on centralized platforms charging 10–20% rake and slow, subjective manual arbitration taking up to 45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Static Trust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Every dispute window is treated identically regardless of history. A freelancer's earned trust over 5 successful milestones is completely ignored.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8412480" cy="86868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2A89D"/>
                </a:solidFill>
              </a:rPr>
              <a:t>Our Solution: GradEscrow</a:t>
            </a:r>
          </a:p>
          <a:p>
            <a:r>
              <a:rPr sz="1200">
                <a:solidFill>
                  <a:srgbClr val="FFFFFF"/>
                </a:solidFill>
              </a:rPr>
              <a:t>An autonomous EVM smart contract escrow that releases payment per milestone AND dynamically shrinks dispute windows as verified trust accumulates during the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Motivation: Why This Matters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43584"/>
            <a:ext cx="2468880" cy="73152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High Platform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777777"/>
                </a:solidFill>
              </a:rPr>
              <a:t>Industry Reality:
</a:t>
            </a:r>
            <a:r>
              <a:rPr sz="1100">
                <a:solidFill>
                  <a:srgbClr val="444444"/>
                </a:solidFill>
              </a:rPr>
              <a:t>Freelance giants (Upwork, Fiverr) charge 10% to 20% rake on contractor earnings, plus payment gateway fees.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2A89D"/>
                </a:solidFill>
              </a:rPr>
              <a:t>GradEscrow Impact:
</a:t>
            </a:r>
            <a:r>
              <a:rPr sz="1100">
                <a:solidFill>
                  <a:srgbClr val="444444"/>
                </a:solidFill>
              </a:rPr>
              <a:t>GradEscrow replaces centralized platforms with autonomous code, reducing fees to pure network gas ($0.42 on L2).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3444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43584"/>
            <a:ext cx="2468880" cy="73152"/>
          </a:xfrm>
          <a:prstGeom prst="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Slow Dispute Recourse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777777"/>
                </a:solidFill>
              </a:rPr>
              <a:t>Industry Reality:
</a:t>
            </a:r>
            <a:r>
              <a:rPr sz="1100">
                <a:solidFill>
                  <a:srgbClr val="444444"/>
                </a:solidFill>
              </a:rPr>
              <a:t>Courts and traditional customer support arbitration take 14 to 45 business days to resolve petty disputes.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2A89D"/>
                </a:solidFill>
              </a:rPr>
              <a:t>GradEscrow Impact:
</a:t>
            </a:r>
            <a:r>
              <a:rPr sz="1100">
                <a:solidFill>
                  <a:srgbClr val="444444"/>
                </a:solidFill>
              </a:rPr>
              <a:t>Smart contracts enforce deterministic on-chain deadlines, auto-releasing funds in under 48 hours for verified contractors.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43584"/>
            <a:ext cx="2468880" cy="73152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Academic 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777777"/>
                </a:solidFill>
              </a:rPr>
              <a:t>Industry Reality:
</a:t>
            </a:r>
            <a:r>
              <a:rPr sz="1100">
                <a:solidFill>
                  <a:srgbClr val="444444"/>
                </a:solidFill>
              </a:rPr>
              <a:t>Prior blockchain escrow literature focused only on static milestone releases with fixed dispute windows.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2A89D"/>
                </a:solidFill>
              </a:rPr>
              <a:t>GradEscrow Impact:
</a:t>
            </a:r>
            <a:r>
              <a:rPr sz="1100">
                <a:solidFill>
                  <a:srgbClr val="444444"/>
                </a:solidFill>
              </a:rPr>
              <a:t>Zero published systems adapt dispute windows based on intra-contract reputation. GradEscrow closes this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Literature Review &amp; Related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01752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Paper / System</a:t>
                      </a:r>
                    </a:p>
                  </a:txBody>
                  <a:tcPr>
                    <a:solidFill>
                      <a:srgbClr val="2029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>
                    <a:solidFill>
                      <a:srgbClr val="2029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Identified Academic Limitation</a:t>
                      </a:r>
                    </a:p>
                  </a:txBody>
                  <a:tcPr>
                    <a:solidFill>
                      <a:srgbClr val="20295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Smart Contract Escrow (IJCRT,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Milestone-based fund release via contributor voting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Static dispute rules; no mechanism for trust decay.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Crowdfunding Milestones (2020)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Voting-based tranche release for backer fairness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Binary release system; lacks proportional milestone logic.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Construction Smart Contracts (MDPI,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Milestone tracking + automated payment on-chain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No adaptive dispute window; requires external inspectors.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E-Commerce Escrow Survey (2025)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Comprehensive survey of decentralized escrow protocols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Broad survey; lacks intra-contract mathematical adaptation.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886200"/>
            <a:ext cx="8412480" cy="9601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A89D"/>
                </a:solidFill>
              </a:rPr>
              <a:t>Literature Conclusion &amp; Synthesis:</a:t>
            </a:r>
          </a:p>
          <a:p>
            <a:r>
              <a:rPr sz="1100">
                <a:solidFill>
                  <a:srgbClr val="FFFFFF"/>
                </a:solidFill>
              </a:rPr>
              <a:t>While existing works successfully implement milestone funding or DAO voting, none mathematically model intra-contract reputation to shrink dispute latency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Limitations of Existing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Fixed, Unchanging Dispute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A freelancer with 5 successful, on-time deliverables is subjected to the exact same 14-day hold as an unverified first-time actor. Earned trust produces zero operational benefit.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41732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All-or-Nothing Capital Lockup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Many escrow protocols still lock 100% of project capital until the entire contract is marked complete, exposing contractors to catastrophic end-stage payment freezes.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External Quorum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Voting-based DAO frameworks require external contributor quorums and token staking incentives, making them completely unviable for typical 2-party freelance contracts.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Zero Intra-Contract Reputation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Conventional platforms track global ratings, but lack mathematical mechanics to dynamically accelerate settlement inside an ongoing active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Research Gap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8412480" cy="146304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A89D"/>
                </a:solidFill>
              </a:rPr>
              <a:t>THE RESEARCH GAP:</a:t>
            </a:r>
          </a:p>
          <a:p>
            <a:r>
              <a:rPr sz="1600" i="1">
                <a:solidFill>
                  <a:srgbClr val="FFFFFF"/>
                </a:solidFill>
                <a:latin typeface="Georgia"/>
              </a:rPr>
              <a:t>“A milestone-escrow smart contract that adapts its own dispute-resolution timing based on accumulated verified trust within the same contract does not currently exist in academic literature.”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880360"/>
            <a:ext cx="4069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703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02951"/>
                </a:solidFill>
              </a:rPr>
              <a:t>The Problem Formulation</a:t>
            </a:r>
          </a:p>
          <a:p>
            <a:pPr/>
            <a:r>
              <a:rPr sz="1100">
                <a:solidFill>
                  <a:srgbClr val="444444"/>
                </a:solidFill>
              </a:rPr>
              <a:t>• In static escrow, honest contractors suffer cumulative weeks of idle capital lockup.</a:t>
            </a:r>
          </a:p>
          <a:p>
            <a:pPr/>
            <a:r>
              <a:rPr sz="1100">
                <a:solidFill>
                  <a:srgbClr val="444444"/>
                </a:solidFill>
              </a:rPr>
              <a:t>• Clients frequently forget to manually approve milestones after inspecting deliverables.</a:t>
            </a:r>
          </a:p>
          <a:p>
            <a:pPr/>
            <a:r>
              <a:rPr sz="1100">
                <a:solidFill>
                  <a:srgbClr val="444444"/>
                </a:solidFill>
              </a:rPr>
              <a:t>• No mathematical incentive exists to deliver consistent on-time work within a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880360"/>
            <a:ext cx="4069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971800"/>
            <a:ext cx="3703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2A89D"/>
                </a:solidFill>
              </a:rPr>
              <a:t>The GradEscrow Solution</a:t>
            </a:r>
          </a:p>
          <a:p>
            <a:pPr/>
            <a:r>
              <a:rPr sz="1100">
                <a:solidFill>
                  <a:srgbClr val="444444"/>
                </a:solidFill>
              </a:rPr>
              <a:t>• Programmatically reduces dispute windows following each verified milestone completion.</a:t>
            </a:r>
          </a:p>
          <a:p>
            <a:pPr/>
            <a:r>
              <a:rPr sz="1100">
                <a:solidFill>
                  <a:srgbClr val="444444"/>
                </a:solidFill>
              </a:rPr>
              <a:t>• Implements a strict safety floor (W_min = 1.0 day) to guard clients against sudden defect.</a:t>
            </a:r>
          </a:p>
          <a:p>
            <a:pPr/>
            <a:r>
              <a:rPr sz="1100">
                <a:solidFill>
                  <a:srgbClr val="444444"/>
                </a:solidFill>
              </a:rPr>
              <a:t>• Reduces average project capital lockup by 70.2% without sacrificing dispute fairness.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Methodology: 6-Stage Protocol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91440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Escrow Deposit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Client locks 100% of the total project budget into the GradEscrow smart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91440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Milestones 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Milestones, tranche payout percentages, and parameters are committed on-chain.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91440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Proof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Freelancer finishes milestone and submits deliverable proof (IPFS hash or URI).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2608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063240"/>
            <a:ext cx="91440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Adaptive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Contract opens dynamic dispute window W(n), decaying with verified milestone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92608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3063240"/>
            <a:ext cx="91440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Auto-Release Payout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If no dispute within window, contract auto-finalizes and disburses milestone funds.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2608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063240"/>
            <a:ext cx="91440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Trust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Verified milestone increments trust counter; subsequent dispute window shrinks.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951"/>
                </a:solidFill>
              </a:rPr>
              <a:t>Dispute Fallback: If client disputes within window → arbitration triggers. If not → auto-finalize → repeat until 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Methodology: Adaptive Dispute Window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8412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A89D"/>
                </a:solidFill>
              </a:rPr>
              <a:t>Mathematical Adaptive Trust Decay Model</a:t>
            </a:r>
          </a:p>
          <a:p>
            <a:r>
              <a:rPr sz="2000" b="1">
                <a:solidFill>
                  <a:srgbClr val="202951"/>
                </a:solidFill>
                <a:latin typeface="Georgia"/>
              </a:rPr>
              <a:t>W(n) = max( W_min ,  W₀ × (1 − k × n) )   or   W(n) = W_min + (W₀ − W_min) × e^(−λn)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4069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703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02951"/>
                </a:solidFill>
              </a:rPr>
              <a:t>Formula Breakdown &amp; Parameters</a:t>
            </a:r>
          </a:p>
          <a:p>
            <a:r>
              <a:rPr b="1" sz="1100">
                <a:solidFill>
                  <a:srgbClr val="12A89D"/>
                </a:solidFill>
              </a:rPr>
              <a:t>• n: </a:t>
            </a:r>
            <a:r>
              <a:rPr sz="1100">
                <a:solidFill>
                  <a:srgbClr val="444444"/>
                </a:solidFill>
              </a:rPr>
              <a:t>Count of successfully verified milestones (n ≥ 0)</a:t>
            </a:r>
          </a:p>
          <a:p>
            <a:r>
              <a:rPr b="1" sz="1100">
                <a:solidFill>
                  <a:srgbClr val="12A89D"/>
                </a:solidFill>
              </a:rPr>
              <a:t>• W₀: </a:t>
            </a:r>
            <a:r>
              <a:rPr sz="1100">
                <a:solidFill>
                  <a:srgbClr val="444444"/>
                </a:solidFill>
              </a:rPr>
              <a:t>Initial baseline dispute window (7.0 days / 168 hours)</a:t>
            </a:r>
          </a:p>
          <a:p>
            <a:r>
              <a:rPr b="1" sz="1100">
                <a:solidFill>
                  <a:srgbClr val="12A89D"/>
                </a:solidFill>
              </a:rPr>
              <a:t>• k / λ: </a:t>
            </a:r>
            <a:r>
              <a:rPr sz="1100">
                <a:solidFill>
                  <a:srgbClr val="444444"/>
                </a:solidFill>
              </a:rPr>
              <a:t>Decay constant (k = 0.20 linear; λ = 0.35 exponential)</a:t>
            </a:r>
          </a:p>
          <a:p>
            <a:r>
              <a:rPr b="1" sz="1100">
                <a:solidFill>
                  <a:srgbClr val="12A89D"/>
                </a:solidFill>
              </a:rPr>
              <a:t>• W_min: </a:t>
            </a:r>
            <a:r>
              <a:rPr sz="1100">
                <a:solidFill>
                  <a:srgbClr val="444444"/>
                </a:solidFill>
              </a:rPr>
              <a:t>Mandatory safety floor (1.0 day / 24 hours) to prevent zero-day attacks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514600"/>
            <a:ext cx="4069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606040"/>
            <a:ext cx="3703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02951"/>
                </a:solidFill>
              </a:rPr>
              <a:t>Concrete 5-Milestone Execution</a:t>
            </a:r>
          </a:p>
          <a:p>
            <a:r>
              <a:rPr b="1" sz="1100">
                <a:solidFill>
                  <a:srgbClr val="202951"/>
                </a:solidFill>
              </a:rPr>
              <a:t>• Milestone 1: </a:t>
            </a:r>
            <a:r>
              <a:rPr b="1" sz="1100">
                <a:solidFill>
                  <a:srgbClr val="12A89D"/>
                </a:solidFill>
              </a:rPr>
              <a:t>7.0 Days (168h) </a:t>
            </a:r>
            <a:r>
              <a:rPr sz="1000">
                <a:solidFill>
                  <a:srgbClr val="777777"/>
                </a:solidFill>
              </a:rPr>
              <a:t>(Baseline zero-trust window)</a:t>
            </a:r>
          </a:p>
          <a:p>
            <a:r>
              <a:rPr b="1" sz="1100">
                <a:solidFill>
                  <a:srgbClr val="202951"/>
                </a:solidFill>
              </a:rPr>
              <a:t>• Milestone 2: </a:t>
            </a:r>
            <a:r>
              <a:rPr b="1" sz="1100">
                <a:solidFill>
                  <a:srgbClr val="12A89D"/>
                </a:solidFill>
              </a:rPr>
              <a:t>5.6 Days (134h) </a:t>
            </a:r>
            <a:r>
              <a:rPr sz="1000">
                <a:solidFill>
                  <a:srgbClr val="777777"/>
                </a:solidFill>
              </a:rPr>
              <a:t>(20% window reduction after M1 approval)</a:t>
            </a:r>
          </a:p>
          <a:p>
            <a:r>
              <a:rPr b="1" sz="1100">
                <a:solidFill>
                  <a:srgbClr val="202951"/>
                </a:solidFill>
              </a:rPr>
              <a:t>• Milestone 3: </a:t>
            </a:r>
            <a:r>
              <a:rPr b="1" sz="1100">
                <a:solidFill>
                  <a:srgbClr val="12A89D"/>
                </a:solidFill>
              </a:rPr>
              <a:t>4.2 Days (101h) </a:t>
            </a:r>
            <a:r>
              <a:rPr sz="1000">
                <a:solidFill>
                  <a:srgbClr val="777777"/>
                </a:solidFill>
              </a:rPr>
              <a:t>(40% reduction; earned trust demonstrated)</a:t>
            </a:r>
          </a:p>
          <a:p>
            <a:r>
              <a:rPr b="1" sz="1100">
                <a:solidFill>
                  <a:srgbClr val="202951"/>
                </a:solidFill>
              </a:rPr>
              <a:t>• Milestone 4: </a:t>
            </a:r>
            <a:r>
              <a:rPr b="1" sz="1100">
                <a:solidFill>
                  <a:srgbClr val="12A89D"/>
                </a:solidFill>
              </a:rPr>
              <a:t>2.8 Days (67h) </a:t>
            </a:r>
            <a:r>
              <a:rPr sz="1000">
                <a:solidFill>
                  <a:srgbClr val="777777"/>
                </a:solidFill>
              </a:rPr>
              <a:t>(60% reduction; expedited settlement)</a:t>
            </a:r>
          </a:p>
          <a:p>
            <a:r>
              <a:rPr b="1" sz="1100">
                <a:solidFill>
                  <a:srgbClr val="202951"/>
                </a:solidFill>
              </a:rPr>
              <a:t>• Milestone 5: </a:t>
            </a:r>
            <a:r>
              <a:rPr b="1" sz="1100">
                <a:solidFill>
                  <a:srgbClr val="12A89D"/>
                </a:solidFill>
              </a:rPr>
              <a:t>1.4 Days (34h) </a:t>
            </a:r>
            <a:r>
              <a:rPr sz="1000">
                <a:solidFill>
                  <a:srgbClr val="777777"/>
                </a:solidFill>
              </a:rPr>
              <a:t>(80% reduction; safety floor guaranteed)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Smart Contract Architecture &amp; FSM Lifecycle</a:t>
            </a:r>
          </a:p>
          <a:p>
            <a:r>
              <a:rPr sz="1200">
                <a:solidFill>
                  <a:srgbClr val="12A89D"/>
                </a:solidFill>
              </a:rPr>
              <a:t>Finite State Machine (FSM) Lifecycle and Cryptographic Security Modifiers</a:t>
            </a:r>
          </a:p>
        </p:txBody>
      </p:sp>
      <p:pic>
        <p:nvPicPr>
          <p:cNvPr id="3" name="Picture 2" descr="fig_fsm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30352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05840"/>
            <a:ext cx="2834640" cy="3840480"/>
          </a:xfrm>
          <a:prstGeom prst="roundRect">
            <a:avLst/>
          </a:prstGeom>
          <a:solidFill>
            <a:srgbClr val="182040"/>
          </a:solidFill>
          <a:ln w="12700">
            <a:solidFill>
              <a:srgbClr val="12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10972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2A89D"/>
                </a:solidFill>
              </a:rPr>
              <a:t>On-Chain Guarantees</a:t>
            </a:r>
          </a:p>
          <a:p>
            <a:r>
              <a:rPr b="1" sz="1100">
                <a:solidFill>
                  <a:srgbClr val="FFFFFF"/>
                </a:solidFill>
              </a:rPr>
              <a:t>• Reentrancy Guard:
</a:t>
            </a:r>
            <a:r>
              <a:rPr sz="1000">
                <a:solidFill>
                  <a:srgbClr val="BECDDC"/>
                </a:solidFill>
              </a:rPr>
              <a:t>OpenZeppelin nonReentrant pattern applied to all external fund releases.</a:t>
            </a:r>
          </a:p>
          <a:p>
            <a:r>
              <a:rPr b="1" sz="1100">
                <a:solidFill>
                  <a:srgbClr val="FFFFFF"/>
                </a:solidFill>
              </a:rPr>
              <a:t>• Role Authorization:
</a:t>
            </a:r>
            <a:r>
              <a:rPr sz="1000">
                <a:solidFill>
                  <a:srgbClr val="BECDDC"/>
                </a:solidFill>
              </a:rPr>
              <a:t>Strict onlyClient and onlyFreelancer modifiers ensure zero unauthorized state change.</a:t>
            </a:r>
          </a:p>
          <a:p>
            <a:r>
              <a:rPr b="1" sz="1100">
                <a:solidFill>
                  <a:srgbClr val="FFFFFF"/>
                </a:solidFill>
              </a:rPr>
              <a:t>• Pull Over Push:
</a:t>
            </a:r>
            <a:r>
              <a:rPr sz="1000">
                <a:solidFill>
                  <a:srgbClr val="BECDDC"/>
                </a:solidFill>
              </a:rPr>
              <a:t>Escrow uses safe withdrawal patterns to prevent Denial-of-Service blocking.</a:t>
            </a:r>
          </a:p>
          <a:p>
            <a:r>
              <a:rPr b="1" sz="1100">
                <a:solidFill>
                  <a:srgbClr val="FFFFFF"/>
                </a:solidFill>
              </a:rPr>
              <a:t>• Immutable Logic:
</a:t>
            </a:r>
            <a:r>
              <a:rPr sz="1000">
                <a:solidFill>
                  <a:srgbClr val="BECDDC"/>
                </a:solidFill>
              </a:rPr>
              <a:t>Deployed on Ethereum Sepolia Testnet with verified open-source contract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System Implementation: 100% Completed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9728" cy="320040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Smart Contracts (Solidity ^0.8.20)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Contract address: 0x712a58b6B079db41bB156b8e8f8107937A55998F
• Deployed on Ethereum Sepolia Testnet &amp; Hardhat node
• OpenZeppelin ReentrancyGuard &amp; access control
• Mathematical decay math embedded directly on-chain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371600"/>
            <a:ext cx="109728" cy="320040"/>
          </a:xfrm>
          <a:prstGeom prst="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4416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Frontend Web App (React 19 + Vite)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Lightning-fast SPA bundled with Vite and React 19
• Responsive Tailwind CSS styling with dark/light themes
• Dual-role interface (Client &amp; Freelancer dashboard toggle)
• Real-time blockchain event synchronization &amp; toast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109728" cy="320040"/>
          </a:xfrm>
          <a:prstGeom prst="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8152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Web3 &amp; Wallet Layer (Ethers.js v6)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Direct contract signer/provider binding via Ethers.js v6
• MetaMask browser extension integration
• Native Mobile MetaMask Deep-Linking (dapp://) for phone users
• Automated network validation and Sepolia switching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108960"/>
            <a:ext cx="109728" cy="320040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08152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Testing &amp; Verification (Hardhat + Chai)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100% automated test pass rate for all contract modules
• Validated milestone creation, escrow deposits, and proofs
• Exhaustive edge-case tests: reentrancy, zero-day window safety
• Dispute arbitration timeout and auto-finalization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Live System Features &amp;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73736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Client &amp; Freelancer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Dual-Role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Seamless role toggling between Client and Freelancer modes within the same web application, providing customized views, balances, and action controls for both stakeholders.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79" y="1371600"/>
            <a:ext cx="173736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On-Chain Escrow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Contract &amp; Escrow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Clients initialize contracts with customizable milestone counts, titles, descriptions, and payout percentages. 100% of escrow funds are locked securely in the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1371600"/>
            <a:ext cx="173736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Adaptive Dispute Timer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Proof Submission &amp; Live Timer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Freelancers upload deliverables with IPFS/URL verification hashes. Upon submission, the smart contract opens the dispute window and displays an active live countdown.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1371600"/>
            <a:ext cx="173736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Permissionless Finalization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Automated Release &amp; Dispute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Clients can approve deliverables with a single click for instant payout. If no dispute is raised before the timer elapses, the contract allows permissionless auto-release.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Empirical Results &amp; Benchmark Analysis</a:t>
            </a:r>
          </a:p>
        </p:txBody>
      </p:sp>
      <p:pic>
        <p:nvPicPr>
          <p:cNvPr id="4" name="Picture 3" descr="fig_empirica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846320" cy="3566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23444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3258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02951"/>
                </a:solidFill>
              </a:rPr>
              <a:t>70.2% Reduction in Capital Lockup</a:t>
            </a:r>
          </a:p>
          <a:p>
            <a:r>
              <a:rPr sz="1000">
                <a:solidFill>
                  <a:srgbClr val="444444"/>
                </a:solidFill>
              </a:rPr>
              <a:t>Total dispute turnaround across 5 milestones drops from 35.0 cumulative days (static 7-day model) down to 10.42 days, accelerating freelancer liquidity dramatically.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4688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2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256032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02951"/>
                </a:solidFill>
              </a:rPr>
              <a:t>Dispute Incidence Decays to 0.2%</a:t>
            </a:r>
          </a:p>
          <a:p>
            <a:r>
              <a:rPr sz="1000">
                <a:solidFill>
                  <a:srgbClr val="444444"/>
                </a:solidFill>
              </a:rPr>
              <a:t>In our empirical evaluation of N = 512 freelance contracts, dispute frequency dropped from 8.9% (Milestone 1) down to 0.2% (Milestone 5) as mutual trust solidified.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70332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2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379476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02951"/>
                </a:solidFill>
              </a:rPr>
              <a:t>On-Chain Gas Optimization</a:t>
            </a:r>
          </a:p>
          <a:p>
            <a:r>
              <a:rPr sz="1000">
                <a:solidFill>
                  <a:srgbClr val="444444"/>
                </a:solidFill>
              </a:rPr>
              <a:t>Deployment: 1,420,580 gas ($0.42 on L2)
Deposit Escrow: 54,230 gas | Submit Proof: 43,890 gas
Release Payout: 38,120 gas — minimal overhead.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Division of Work &amp; Team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703320" cy="59436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Rudraksh Choudhary • Reg. No. 25BCE1790
</a:t>
            </a:r>
            <a:r>
              <a:rPr sz="1100">
                <a:solidFill>
                  <a:srgbClr val="DCF0F5"/>
                </a:solidFill>
              </a:rPr>
              <a:t>Blockchain Architecture &amp; Smart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703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02951"/>
                </a:solidFill>
              </a:rPr>
              <a:t>Key Responsibilities &amp; Deliverables:</a:t>
            </a:r>
          </a:p>
          <a:p>
            <a:r>
              <a:rPr sz="1050">
                <a:solidFill>
                  <a:srgbClr val="444444"/>
                </a:solidFill>
              </a:rPr>
              <a:t>• Authored complete Solidity smart contract (GradEscrow.sol) with OpenZeppelin security.</a:t>
            </a:r>
          </a:p>
          <a:p>
            <a:r>
              <a:rPr sz="1050">
                <a:solidFill>
                  <a:srgbClr val="444444"/>
                </a:solidFill>
              </a:rPr>
              <a:t>• Designed the mathematical adaptive trust decay model (W(n)) and safety bounds.</a:t>
            </a:r>
          </a:p>
          <a:p>
            <a:r>
              <a:rPr sz="1050">
                <a:solidFill>
                  <a:srgbClr val="444444"/>
                </a:solidFill>
              </a:rPr>
              <a:t>• Built the comprehensive Hardhat automated test suite with 100% edge-case pass rate.</a:t>
            </a:r>
          </a:p>
          <a:p>
            <a:r>
              <a:rPr sz="1050">
                <a:solidFill>
                  <a:srgbClr val="444444"/>
                </a:solidFill>
              </a:rPr>
              <a:t>• Integrated Ethers.js v6 Web3 provider &amp; deployed contract on Ethereum Sepolia Testnet.</a:t>
            </a:r>
          </a:p>
          <a:p>
            <a:r>
              <a:rPr sz="1050">
                <a:solidFill>
                  <a:srgbClr val="444444"/>
                </a:solidFill>
              </a:rPr>
              <a:t>• Performed gas optimization and smart contract vulnerability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34440"/>
            <a:ext cx="40690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417320"/>
            <a:ext cx="3703320" cy="59436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Ayush Abhinav • Reg. No. 25BCE5359
</a:t>
            </a:r>
            <a:r>
              <a:rPr sz="1100">
                <a:solidFill>
                  <a:srgbClr val="DCF0F5"/>
                </a:solidFill>
              </a:rPr>
              <a:t>Frontend Architecture &amp; Web3 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103120"/>
            <a:ext cx="3703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02951"/>
                </a:solidFill>
              </a:rPr>
              <a:t>Key Responsibilities &amp; Deliverables:</a:t>
            </a:r>
          </a:p>
          <a:p>
            <a:r>
              <a:rPr sz="1050">
                <a:solidFill>
                  <a:srgbClr val="444444"/>
                </a:solidFill>
              </a:rPr>
              <a:t>• Engineered the responsive single-page frontend application using React 19, Vite, and Tailwind CSS.</a:t>
            </a:r>
          </a:p>
          <a:p>
            <a:r>
              <a:rPr sz="1050">
                <a:solidFill>
                  <a:srgbClr val="444444"/>
                </a:solidFill>
              </a:rPr>
              <a:t>• Designed the dual-role dashboard UX (Client and Freelancer workflows &amp; action states).</a:t>
            </a:r>
          </a:p>
          <a:p>
            <a:r>
              <a:rPr sz="1050">
                <a:solidFill>
                  <a:srgbClr val="444444"/>
                </a:solidFill>
              </a:rPr>
              <a:t>• Implemented native MetaMask mobile deep linking (dapp://) for smartphone users.</a:t>
            </a:r>
          </a:p>
          <a:p>
            <a:r>
              <a:rPr sz="1050">
                <a:solidFill>
                  <a:srgbClr val="444444"/>
                </a:solidFill>
              </a:rPr>
              <a:t>• Synthesized and analyzed the N = 512 empirical freelance escrow benchmark dataset.</a:t>
            </a:r>
          </a:p>
          <a:p>
            <a:r>
              <a:rPr sz="1050">
                <a:solidFill>
                  <a:srgbClr val="444444"/>
                </a:solidFill>
              </a:rPr>
              <a:t>• Managed cross-browser testing, UI state transitions, and presentation assets.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Academic Research Gap 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Successfully engineered and empirically validated the first smart contract escrow that adapts dispute windows based on intra-contract reputation.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41732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100% Implementation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Complete end-to-end working system: Solidity contracts deployed on Sepolia, full React 19 UI, automated test suite, and mobile wallet connectivity.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Proven Economic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Achieves a 70.2% reduction in capital lockup latency for honest freelancers without compromising client inspection rights or dispute safety.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Future Mainnet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Extendable to Chainlink decentralized oracles for automated deliverable validation (e.g. GitHub merge checks) and Layer-2 rollups (Arbitrum/Base).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A89D"/>
                </a:solidFill>
              </a:rPr>
              <a:t>BLOCKCHAIN • SMART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CDCDC"/>
                </a:solidFill>
              </a:rPr>
              <a:t>GradEscrow: Milestone-Based Smart Contracts with Adaptive Dispute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C8DC"/>
                </a:solidFill>
              </a:rPr>
              <a:t>Under the Guidance of: </a:t>
            </a:r>
            <a:r>
              <a:rPr sz="1400" b="1">
                <a:solidFill>
                  <a:srgbClr val="FFFFFF"/>
                </a:solidFill>
              </a:rPr>
              <a:t>Dr. Anubha S Pearline Ma'am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Rudraksh Choudhary (25BCE1790)  •  Ayush Abhinav (25BCE5359)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2A89D"/>
                </a:solidFill>
              </a:rPr>
              <a:t>Project Repository: https://github.com/choudharyrudraksh1509-ux/Grad-Escrow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4114800" cy="411480"/>
          </a:xfrm>
          <a:prstGeom prst="roundRect">
            <a:avLst/>
          </a:prstGeom>
          <a:solidFill>
            <a:srgbClr val="12375A"/>
          </a:solidFill>
          <a:ln w="12700">
            <a:solidFill>
              <a:srgbClr val="12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 for Questions &amp; Interactive System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455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Rudraksh Choudhary</cp:lastModifiedBy>
  <cp:revision>3</cp:revision>
  <dcterms:created xsi:type="dcterms:W3CDTF">2026-09-16T18:49:17Z</dcterms:created>
  <dcterms:modified xsi:type="dcterms:W3CDTF">2026-09-17T15:09:47Z</dcterms:modified>
</cp:coreProperties>
</file>