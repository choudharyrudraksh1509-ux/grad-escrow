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0" d="100"/>
          <a:sy n="300" d="100"/>
        </p:scale>
        <p:origin x="-5554" y="-7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67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20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2A89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A89D"/>
                </a:solidFill>
              </a:rPr>
              <a:t>BLOCKCHAIN • SMART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Georgia"/>
              </a:rPr>
              <a:t>GradEscrow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DCDC"/>
                </a:solidFill>
              </a:rPr>
              <a:t>Milestone-Based Smart Contracts with Adaptive Dispute 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4572000" cy="320040"/>
          </a:xfrm>
          <a:prstGeom prst="roundRect">
            <a:avLst/>
          </a:prstGeom>
          <a:solidFill>
            <a:srgbClr val="12375A"/>
          </a:solidFill>
          <a:ln w="12700">
            <a:solidFill>
              <a:srgbClr val="12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A89D"/>
                </a:solidFill>
              </a:rPr>
              <a:t>PROJECT REVIEW 1 • PROPOSAL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C8DC"/>
                </a:solidFill>
              </a:rPr>
              <a:t>Under the Guidance of: </a:t>
            </a:r>
            <a:r>
              <a:rPr sz="1400" b="1">
                <a:solidFill>
                  <a:srgbClr val="FFFFFF"/>
                </a:solidFill>
              </a:rPr>
              <a:t>Dr. Anubha S Pearline Ma'am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Rudraksh Choudhary
</a:t>
            </a:r>
            <a:r>
              <a:rPr sz="1300">
                <a:solidFill>
                  <a:srgbClr val="B4BED2"/>
                </a:solidFill>
              </a:rPr>
              <a:t>Reg. No. 25BCE1790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Ayush Abhinav
</a:t>
            </a:r>
            <a:r>
              <a:rPr sz="1300">
                <a:solidFill>
                  <a:srgbClr val="B4BED2"/>
                </a:solidFill>
              </a:rPr>
              <a:t>Reg. No. 25BCE5359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Introduction: What is GradEscrow?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920240" cy="32004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Decentralized Escrow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The Core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A decentralized, trustless escrow smart contract built for the freelance gig economy that replaces centralized third parties with autonomous blockchain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1920240" cy="32004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Tranche-Based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Milestone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860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Instead of all-or-nothing payments, project budgets are split into verifiable milestone tranches, unlocking fair compensation as work progresses.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1920240" cy="32004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Trust-Decay Mechanism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Adaptive Dispute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Our primary innovation: dispute review windows dynamically shrink following each successfully verified milestone as intra-contract trust accumulates.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8412480" cy="86868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A89D"/>
                </a:solidFill>
              </a:rPr>
              <a:t>Project Vision:</a:t>
            </a:r>
          </a:p>
          <a:p>
            <a:r>
              <a:rPr sz="1100">
                <a:solidFill>
                  <a:srgbClr val="FFFFFF"/>
                </a:solidFill>
              </a:rPr>
              <a:t>To eliminate arbitrary payment delays and excessive intermediary commissions in freelance contracting by mathematically modeling earned trust directly into smart contract settlement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Problem Statement: Flaws in Traditional Escrow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All-or-Nothing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Traditional platforms lock 100% of project funds until final completion. If a dispute or scope change occurs near the end, freelancers risk losing pay for weeks of honest intermediate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Expensive Centralized Intermediaries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Platforms like Upwork and Fiverr charge steep 10% to 20% commission rakes, plus withdrawal fees, while relying on slow, subjective manual dispute resolution taking 14 to 45 business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603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Static, Unchanging Dispute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</a:rPr>
              <a:t>Every milestone is subjected to the same fixed 7-to-14 day review hold. An honest contractor with 5 perfect deliverables is treated identically to an unverified first-time actor.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8412480" cy="86868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B42318"/>
                </a:solidFill>
              </a:rPr>
              <a:t>Core Problem Identified:</a:t>
            </a:r>
          </a:p>
          <a:p>
            <a:r>
              <a:rPr sz="1100">
                <a:solidFill>
                  <a:srgbClr val="444444"/>
                </a:solidFill>
              </a:rPr>
              <a:t>In existing freelance escrow protocols, honest contractors suffer cumulative weeks of idle capital lockup because dispute windows remain static regardless of earned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Motivation: Why This Matters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43584"/>
            <a:ext cx="2468880" cy="73152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High Platform Commissions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777777"/>
                </a:solidFill>
              </a:rPr>
              <a:t>Current Reality:
</a:t>
            </a:r>
            <a:r>
              <a:rPr sz="1100">
                <a:solidFill>
                  <a:srgbClr val="444444"/>
                </a:solidFill>
              </a:rPr>
              <a:t>Freelance platforms extract up to 20% of contractor gross earnings. For small vendors and gig workers, this is a massive financial drain.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2A89D"/>
                </a:solidFill>
              </a:rPr>
              <a:t>Proposed Solution:
</a:t>
            </a:r>
            <a:r>
              <a:rPr sz="1100">
                <a:solidFill>
                  <a:srgbClr val="444444"/>
                </a:solidFill>
              </a:rPr>
              <a:t>GradEscrow replaces platform fees with autonomous blockchain code, reducing overhead to pure network execution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3444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243584"/>
            <a:ext cx="2468880" cy="73152"/>
          </a:xfrm>
          <a:prstGeom prst="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Slow Dispute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777777"/>
                </a:solidFill>
              </a:rPr>
              <a:t>Current Reality:
</a:t>
            </a:r>
            <a:r>
              <a:rPr sz="1100">
                <a:solidFill>
                  <a:srgbClr val="444444"/>
                </a:solidFill>
              </a:rPr>
              <a:t>Conventional support arbitration takes weeks, freezing working capital and forcing freelancers into cash-flow emergencies.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2A89D"/>
                </a:solidFill>
              </a:rPr>
              <a:t>Proposed Solution:
</a:t>
            </a:r>
            <a:r>
              <a:rPr sz="1100">
                <a:solidFill>
                  <a:srgbClr val="444444"/>
                </a:solidFill>
              </a:rPr>
              <a:t>Smart contracts enforce deterministic on-chain review windows, auto-releasing payouts upon deadline expiry.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43584"/>
            <a:ext cx="2468880" cy="73152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02951"/>
                </a:solidFill>
              </a:rPr>
              <a:t>Academic 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777777"/>
                </a:solidFill>
              </a:rPr>
              <a:t>Current Reality:
</a:t>
            </a:r>
            <a:r>
              <a:rPr sz="1100">
                <a:solidFill>
                  <a:srgbClr val="444444"/>
                </a:solidFill>
              </a:rPr>
              <a:t>Prior blockchain escrow papers studied milestone payouts or multi-party voting, but none modeled adaptive dispute timing.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2A89D"/>
                </a:solidFill>
              </a:rPr>
              <a:t>Proposed Solution:
</a:t>
            </a:r>
            <a:r>
              <a:rPr sz="1100">
                <a:solidFill>
                  <a:srgbClr val="444444"/>
                </a:solidFill>
              </a:rPr>
              <a:t>GradEscrow bridges this theoretical and practical gap by demonstrating mathematically decaying dispute windows.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Literature Survey: Prior Work &amp;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301752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Paper / System</a:t>
                      </a:r>
                    </a:p>
                  </a:txBody>
                  <a:tcPr>
                    <a:solidFill>
                      <a:srgbClr val="2029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Key Contribution</a:t>
                      </a:r>
                    </a:p>
                  </a:txBody>
                  <a:tcPr>
                    <a:solidFill>
                      <a:srgbClr val="2029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Identified Academic Limitation</a:t>
                      </a:r>
                    </a:p>
                  </a:txBody>
                  <a:tcPr>
                    <a:solidFill>
                      <a:srgbClr val="20295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Smart Contract Escrow (IJCRT,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Milestone-based fund release via contributor voting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Static dispute rules; no mechanism for trust decay.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Crowdfunding Milestones (2020)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Voting-based tranche release for backer fairness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Binary release system; lacks proportional milestone logic.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Construction Smart Contracts (MDPI,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Milestone tracking + automated payment on-chain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No adaptive dispute window; requires external inspectors.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951"/>
                          </a:solidFill>
                        </a:rPr>
                        <a:t>E-Commerce Escrow Survey (2025)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Comprehensive survey of decentralized escrow protocols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</a:rPr>
                        <a:t>Broad survey; lacks intra-contract mathematical adaptation.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886200"/>
            <a:ext cx="8412480" cy="9601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A89D"/>
                </a:solidFill>
              </a:rPr>
              <a:t>Literature Conclusion &amp; Synthesis:</a:t>
            </a:r>
          </a:p>
          <a:p>
            <a:r>
              <a:rPr sz="1100">
                <a:solidFill>
                  <a:srgbClr val="FFFFFF"/>
                </a:solidFill>
              </a:rPr>
              <a:t>While previous academic systems successfully demonstrate milestone-based fund releases, none mathematically model intra-contract reputation to shrink dispute latency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Research Gap &amp; Proposed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8412480" cy="146304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A89D"/>
                </a:solidFill>
              </a:rPr>
              <a:t>THE IDENTIFIED RESEARCH GAP:</a:t>
            </a:r>
          </a:p>
          <a:p>
            <a:r>
              <a:rPr sz="1600" i="1">
                <a:solidFill>
                  <a:srgbClr val="FFFFFF"/>
                </a:solidFill>
                <a:latin typeface="Georgia"/>
              </a:rPr>
              <a:t>“A milestone-escrow smart contract that adapts its own dispute-resolution timing based on accumulated verified trust within the same contract does not currently exist in academic literature.”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880360"/>
            <a:ext cx="4069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3703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02951"/>
                </a:solidFill>
              </a:rPr>
              <a:t>Limitations in Existing Systems</a:t>
            </a:r>
          </a:p>
          <a:p>
            <a:r>
              <a:rPr sz="1100">
                <a:solidFill>
                  <a:srgbClr val="444444"/>
                </a:solidFill>
              </a:rPr>
              <a:t>• Dispute windows remain fixed constants regardless of project progress.</a:t>
            </a:r>
          </a:p>
          <a:p>
            <a:r>
              <a:rPr sz="1100">
                <a:solidFill>
                  <a:srgbClr val="444444"/>
                </a:solidFill>
              </a:rPr>
              <a:t>• Zero-trust is assumed for every milestone, penalizing reliable freelancers.</a:t>
            </a:r>
          </a:p>
          <a:p>
            <a:r>
              <a:rPr sz="1100">
                <a:solidFill>
                  <a:srgbClr val="444444"/>
                </a:solidFill>
              </a:rPr>
              <a:t>• Voting-based systems require external crowds/DAOs, impractical for 2-party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880360"/>
            <a:ext cx="4069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971800"/>
            <a:ext cx="3703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2A89D"/>
                </a:solidFill>
              </a:rPr>
              <a:t>Our Proposed Innovation</a:t>
            </a:r>
          </a:p>
          <a:p>
            <a:r>
              <a:rPr sz="1100">
                <a:solidFill>
                  <a:srgbClr val="444444"/>
                </a:solidFill>
              </a:rPr>
              <a:t>• Incorporate mathematical trust decay into smart contract state transitions.</a:t>
            </a:r>
          </a:p>
          <a:p>
            <a:r>
              <a:rPr sz="1100">
                <a:solidFill>
                  <a:srgbClr val="444444"/>
                </a:solidFill>
              </a:rPr>
              <a:t>• Compress dispute windows safely as verified milestones succeed.</a:t>
            </a:r>
          </a:p>
          <a:p>
            <a:r>
              <a:rPr sz="1100">
                <a:solidFill>
                  <a:srgbClr val="444444"/>
                </a:solidFill>
              </a:rPr>
              <a:t>• Enforce an inviolable 24-hour safety floor (W_min) to prevent zero-day fraud.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Proposed Solution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Objective 1: Smart Contract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Design an EVM-compatible Solidity smart contract architecture implementing milestone state management, role authorization, and pull-over-push fund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417320"/>
            <a:ext cx="365760" cy="36576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Objective 2: Adaptive Mathematical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Formulate and implement a bounded trust-decay equation that programmatically computes dispute durations based on consecutive on-time milestone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Objective 3: Web3 Dashboard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Develop an intuitive single-page web dashboard allowing clients to fund escrows and freelancers to submit deliverables and track real-time countdown timers.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3154680"/>
            <a:ext cx="365760" cy="36576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Objective 4: Mobile Wallet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Implement native MetaMask mobile deep-linking to ensure seamless onboarding for mobile-only freelancers without requiring desktop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Proposed Methodology &amp; Adaptive Trust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8412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A89D"/>
                </a:solidFill>
              </a:rPr>
              <a:t>Proposed Mathematical Trust-Decay Function</a:t>
            </a:r>
          </a:p>
          <a:p>
            <a:r>
              <a:rPr sz="2000" b="1">
                <a:solidFill>
                  <a:srgbClr val="202951"/>
                </a:solidFill>
                <a:latin typeface="Georgia"/>
              </a:rPr>
              <a:t>W(n) = max( W_min ,  W₀ × (1 − k × n) )   or   W(n) = W_min + (W₀ − W_min) × e^(−λn)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4069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703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02951"/>
                </a:solidFill>
              </a:rPr>
              <a:t>Model Parameters</a:t>
            </a:r>
          </a:p>
          <a:p>
            <a:r>
              <a:rPr b="1" sz="1100">
                <a:solidFill>
                  <a:srgbClr val="12A89D"/>
                </a:solidFill>
              </a:rPr>
              <a:t>• n: </a:t>
            </a:r>
            <a:r>
              <a:rPr sz="1100">
                <a:solidFill>
                  <a:srgbClr val="444444"/>
                </a:solidFill>
              </a:rPr>
              <a:t>Count of successfully verified milestones (n ≥ 0)</a:t>
            </a:r>
          </a:p>
          <a:p>
            <a:r>
              <a:rPr b="1" sz="1100">
                <a:solidFill>
                  <a:srgbClr val="12A89D"/>
                </a:solidFill>
              </a:rPr>
              <a:t>• W₀: </a:t>
            </a:r>
            <a:r>
              <a:rPr sz="1100">
                <a:solidFill>
                  <a:srgbClr val="444444"/>
                </a:solidFill>
              </a:rPr>
              <a:t>Initial baseline dispute window (7.0 days / 168 hours)</a:t>
            </a:r>
          </a:p>
          <a:p>
            <a:r>
              <a:rPr b="1" sz="1100">
                <a:solidFill>
                  <a:srgbClr val="12A89D"/>
                </a:solidFill>
              </a:rPr>
              <a:t>• k / λ: </a:t>
            </a:r>
            <a:r>
              <a:rPr sz="1100">
                <a:solidFill>
                  <a:srgbClr val="444444"/>
                </a:solidFill>
              </a:rPr>
              <a:t>Decay constant (e.g. k = 0.20 linear; λ = 0.35 exponential)</a:t>
            </a:r>
          </a:p>
          <a:p>
            <a:r>
              <a:rPr b="1" sz="1100">
                <a:solidFill>
                  <a:srgbClr val="12A89D"/>
                </a:solidFill>
              </a:rPr>
              <a:t>• W_min: </a:t>
            </a:r>
            <a:r>
              <a:rPr sz="1100">
                <a:solidFill>
                  <a:srgbClr val="444444"/>
                </a:solidFill>
              </a:rPr>
              <a:t>Mandatory safety floor (1.0 day / 24 hours) to prevent zero-day attacks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514600"/>
            <a:ext cx="4069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606040"/>
            <a:ext cx="3703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02951"/>
                </a:solidFill>
              </a:rPr>
              <a:t>Planned Milestone Progression (W₀ = 7d)</a:t>
            </a:r>
          </a:p>
          <a:p>
            <a:r>
              <a:rPr b="1" sz="1100">
                <a:solidFill>
                  <a:srgbClr val="202951"/>
                </a:solidFill>
              </a:rPr>
              <a:t>• Milestone 1: </a:t>
            </a:r>
            <a:r>
              <a:rPr b="1" sz="1100">
                <a:solidFill>
                  <a:srgbClr val="12A89D"/>
                </a:solidFill>
              </a:rPr>
              <a:t>7.0 Days (168h) </a:t>
            </a:r>
            <a:r>
              <a:rPr sz="1000">
                <a:solidFill>
                  <a:srgbClr val="777777"/>
                </a:solidFill>
              </a:rPr>
              <a:t>(Baseline zero-trust window)</a:t>
            </a:r>
          </a:p>
          <a:p>
            <a:r>
              <a:rPr b="1" sz="1100">
                <a:solidFill>
                  <a:srgbClr val="202951"/>
                </a:solidFill>
              </a:rPr>
              <a:t>• Milestone 2: </a:t>
            </a:r>
            <a:r>
              <a:rPr b="1" sz="1100">
                <a:solidFill>
                  <a:srgbClr val="12A89D"/>
                </a:solidFill>
              </a:rPr>
              <a:t>5.6 Days (134h) </a:t>
            </a:r>
            <a:r>
              <a:rPr sz="1000">
                <a:solidFill>
                  <a:srgbClr val="777777"/>
                </a:solidFill>
              </a:rPr>
              <a:t>(20% window reduction after M1 approval)</a:t>
            </a:r>
          </a:p>
          <a:p>
            <a:r>
              <a:rPr b="1" sz="1100">
                <a:solidFill>
                  <a:srgbClr val="202951"/>
                </a:solidFill>
              </a:rPr>
              <a:t>• Milestone 3: </a:t>
            </a:r>
            <a:r>
              <a:rPr b="1" sz="1100">
                <a:solidFill>
                  <a:srgbClr val="12A89D"/>
                </a:solidFill>
              </a:rPr>
              <a:t>4.2 Days (101h) </a:t>
            </a:r>
            <a:r>
              <a:rPr sz="1000">
                <a:solidFill>
                  <a:srgbClr val="777777"/>
                </a:solidFill>
              </a:rPr>
              <a:t>(40% reduction; earned trust demonstrated)</a:t>
            </a:r>
          </a:p>
          <a:p>
            <a:r>
              <a:rPr b="1" sz="1100">
                <a:solidFill>
                  <a:srgbClr val="202951"/>
                </a:solidFill>
              </a:rPr>
              <a:t>• Milestone 4: </a:t>
            </a:r>
            <a:r>
              <a:rPr b="1" sz="1100">
                <a:solidFill>
                  <a:srgbClr val="12A89D"/>
                </a:solidFill>
              </a:rPr>
              <a:t>2.8 Days (67h) </a:t>
            </a:r>
            <a:r>
              <a:rPr sz="1000">
                <a:solidFill>
                  <a:srgbClr val="777777"/>
                </a:solidFill>
              </a:rPr>
              <a:t>(60% reduction; expedited settlement)</a:t>
            </a:r>
          </a:p>
          <a:p>
            <a:r>
              <a:rPr b="1" sz="1100">
                <a:solidFill>
                  <a:srgbClr val="202951"/>
                </a:solidFill>
              </a:rPr>
              <a:t>• Milestone 5: </a:t>
            </a:r>
            <a:r>
              <a:rPr b="1" sz="1100">
                <a:solidFill>
                  <a:srgbClr val="12A89D"/>
                </a:solidFill>
              </a:rPr>
              <a:t>1.4 Days (34h) </a:t>
            </a:r>
            <a:r>
              <a:rPr sz="1000">
                <a:solidFill>
                  <a:srgbClr val="777777"/>
                </a:solidFill>
              </a:rPr>
              <a:t>(80% reduction; safety floor guaranteed)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Proposed System Architecture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91440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Escrow Deposit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Client deposits 100% of project budget into smart contract escrow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91440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Milestones 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Milestone descriptions, tranches, and payout percentages locked on-chain.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91440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Proof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Freelancer finishes milestone deliverable and uploads proof URI/hash.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2608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063240"/>
            <a:ext cx="91440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Adaptive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03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Contract starts dispute timer W(n), computed from verified milestone 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92608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3063240"/>
            <a:ext cx="91440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Automated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703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If no dispute raised within window, contract auto-releases tranche payout.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2608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063240"/>
            <a:ext cx="91440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Stage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Trust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Verified milestone increments trust score; subsequent dispute window shrinks.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02951"/>
                </a:solidFill>
              </a:rPr>
              <a:t>Dispute Fallback: If client disputes deliverable within window → contract pauses payout and triggers arbitration.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Resources Needed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9728" cy="320040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Smart Contract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Language: Solidity (^0.8.20)
• Framework: Hardhat development environment
• Security: OpenZeppelin ReentrancyGuard &amp; Ownable
• Network: Ethereum Sepolia Testnet (EVM)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371600"/>
            <a:ext cx="109728" cy="320040"/>
          </a:xfrm>
          <a:prstGeom prst="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4416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Frontend &amp; UI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Library: React 19 + Vite tooling
• Styling: Tailwind CSS responsive utility framework
• Icons &amp; UI: Lucide React icon package
• Architecture: Dual Client &amp; Freelancer viewports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109728" cy="320040"/>
          </a:xfrm>
          <a:prstGeom prst="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8152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Web3 Integration &amp;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Web3 Provider: Ethers.js (v6) for contract calls
• Wallet: MetaMask browser extension
• Mobile Support: Native MetaMask Mobile deep linking
• RPC: Infura / Alchemy Sepolia RPC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108960"/>
            <a:ext cx="109728" cy="320040"/>
          </a:xfrm>
          <a:prstGeom prst="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081528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Testing &amp; Verification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7472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Unit Testing: Mocha &amp; Chai automated test suite
• Local Blockchain: Hardhat Network with time simulation
• Code Quality: Slither static analyzer
• Version Control: Git &amp; GitHub repository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Project Timeline &amp; Plan of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73736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Phase 1: Weeks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Architecture &amp; Smart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Finalize mathematical trust-decay formulation
• Write core Solidity smart contract (GradEscrow.sol)
• Set up Hardhat environment and compile 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79" y="1371600"/>
            <a:ext cx="1737360" cy="274320"/>
          </a:xfrm>
          <a:prstGeom prst="roundRect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Phase 2: Weeks 3–4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Automated Testing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Write comprehensive unit tests in Mocha/Chai
• Test time simulation (evm_increaseTime) for decay
• Validate edge cases (reentrancy, safety floor limits)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1371600"/>
            <a:ext cx="173736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Phase 3: Weeks 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Frontend &amp; Web3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Build React 19 dashboard for clients &amp; freelancers
• Integrate Ethers.js v6 with MetaMask wallet
• Implement mobile deep-linking for smartphone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23444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1371600"/>
            <a:ext cx="1737360" cy="274320"/>
          </a:xfrm>
          <a:prstGeom prst="roundRect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Phase 4: Weeks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7830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2951"/>
                </a:solidFill>
              </a:rPr>
              <a:t>Testnet Deployment &amp;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331720"/>
            <a:ext cx="1737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4"/>
                </a:solidFill>
              </a:rPr>
              <a:t>• Deploy contract to Ethereum Sepolia Testnet
• Conduct empirical benchmarking on freelance dataset
• Prepare documentation, final demo, and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951"/>
                </a:solidFill>
                <a:latin typeface="Georgia"/>
              </a:rPr>
              <a:t>Expected Outcomes &amp;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First Adaptive Dispute Escrow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A validated mathematical model proving that dispute windows can safely decay based on intra-contract reputation while preserving full client review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417320"/>
            <a:ext cx="365760" cy="36576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7160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Full-Stack Working DApp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An interactive React 19 web application connected to Ethereum testnet via MetaMask, enabling one-click milestone creation, funding, and auto-release.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20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Quantifiable Capital Lockup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Targeting a &gt;60% reduction in average escrow turnaround latency across multi-milestone freelance engagements compared to static 7-day or 14-day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971800"/>
            <a:ext cx="4069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3154680"/>
            <a:ext cx="365760" cy="365760"/>
          </a:xfrm>
          <a:prstGeom prst="ellipse">
            <a:avLst/>
          </a:prstGeom>
          <a:solidFill>
            <a:srgbClr val="12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08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2951"/>
                </a:solidFill>
              </a:rPr>
              <a:t>Open-Source &amp; Auditable Codebase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6616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Complete public GitHub repository containing verified Solidity contracts, automated unit test suites, frontend components, and comprehensive documentation.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A89D"/>
                </a:solidFill>
              </a:rPr>
              <a:t>BLOCKCHAIN • SMART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Georgia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CDCDC"/>
                </a:solidFill>
              </a:rPr>
              <a:t>GradEscrow: Milestone-Based Smart Contracts with Adaptive Dispute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C8DC"/>
                </a:solidFill>
              </a:rPr>
              <a:t>Under the Guidance of: </a:t>
            </a:r>
            <a:r>
              <a:rPr sz="1400" b="1">
                <a:solidFill>
                  <a:srgbClr val="FFFFFF"/>
                </a:solidFill>
              </a:rPr>
              <a:t>Dr. Anubha S Pearline Ma'am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Rudraksh Choudhary (25BCE1790)  •  Ayush Abhinav (25BCE5359)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2A89D"/>
                </a:solidFill>
              </a:rPr>
              <a:t>Project Proposal: Review 1 — Concept, Design &amp;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4114800" cy="411480"/>
          </a:xfrm>
          <a:prstGeom prst="roundRect">
            <a:avLst/>
          </a:prstGeom>
          <a:solidFill>
            <a:srgbClr val="12375A"/>
          </a:solidFill>
          <a:ln w="12700">
            <a:solidFill>
              <a:srgbClr val="12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 for Questions &amp; Panel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455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Rudraksh Choudhary</cp:lastModifiedBy>
  <cp:revision>3</cp:revision>
  <dcterms:created xsi:type="dcterms:W3CDTF">2026-09-16T18:49:17Z</dcterms:created>
  <dcterms:modified xsi:type="dcterms:W3CDTF">2026-09-17T15:09:47Z</dcterms:modified>
</cp:coreProperties>
</file>